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Calibri"/>
              </a:rPr>
              <a:t>Top 6 Diagnoses Facility-Wide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URTI</c:v>
                  </c:pt>
                  <c:pt idx="1">
                    <c:v>HTN</c:v>
                  </c:pt>
                  <c:pt idx="2">
                    <c:v>Malaria</c:v>
                  </c:pt>
                  <c:pt idx="3">
                    <c:v>UTI</c:v>
                  </c:pt>
                  <c:pt idx="4">
                    <c:v>Wound</c:v>
                  </c:pt>
                  <c:pt idx="5">
                    <c:v>PUD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201</c:v>
                </c:pt>
                <c:pt idx="1">
                  <c:v>145</c:v>
                </c:pt>
                <c:pt idx="2">
                  <c:v>128</c:v>
                </c:pt>
                <c:pt idx="3">
                  <c:v>80</c:v>
                </c:pt>
                <c:pt idx="4">
                  <c:v>73</c:v>
                </c:pt>
                <c:pt idx="5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HTN prevalence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&lt;18</c:v>
                  </c:pt>
                  <c:pt idx="1">
                    <c:v>18-29</c:v>
                  </c:pt>
                  <c:pt idx="2">
                    <c:v>30-39</c:v>
                  </c:pt>
                  <c:pt idx="3">
                    <c:v>40-49</c:v>
                  </c:pt>
                  <c:pt idx="4">
                    <c:v>50-59</c:v>
                  </c:pt>
                  <c:pt idx="5">
                    <c:v>60-69</c:v>
                  </c:pt>
                  <c:pt idx="6">
                    <c:v>70+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</c:v>
                </c:pt>
                <c:pt idx="1">
                  <c:v>5.3</c:v>
                </c:pt>
                <c:pt idx="2">
                  <c:v>9.3</c:v>
                </c:pt>
                <c:pt idx="3">
                  <c:v>22.8</c:v>
                </c:pt>
                <c:pt idx="4">
                  <c:v>27.6</c:v>
                </c:pt>
                <c:pt idx="5">
                  <c:v>50</c:v>
                </c:pt>
                <c:pt idx="6">
                  <c:v>54.4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HTN 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123</c:v>
                </c:pt>
                <c:pt idx="1">
                  <c:v>67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20.8</c:v>
                </c:pt>
                <c:pt idx="1">
                  <c:v>16.4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HTN only</c:v>
                  </c:pt>
                  <c:pt idx="1">
                    <c:v>HTN + DM</c:v>
                  </c:pt>
                  <c:pt idx="2">
                    <c:v>HTN + PUD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</c:v>
                </c:pt>
                <c:pt idx="1">
                  <c:v>34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HTN cases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Matayos</c:v>
                  </c:pt>
                  <c:pt idx="1">
                    <c:v>T. South</c:v>
                  </c:pt>
                  <c:pt idx="2">
                    <c:v>Samia</c:v>
                  </c:pt>
                  <c:pt idx="3">
                    <c:v>Nambale</c:v>
                  </c:pt>
                  <c:pt idx="4">
                    <c:v>Siaya</c:v>
                  </c:pt>
                  <c:pt idx="5">
                    <c:v>T. North</c:v>
                  </c:pt>
                  <c:pt idx="6">
                    <c:v>Bunyala</c:v>
                  </c:pt>
                  <c:pt idx="7">
                    <c:v>Butula</c:v>
                  </c:pt>
                  <c:pt idx="8">
                    <c:v>Uganda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105</c:v>
                </c:pt>
                <c:pt idx="1">
                  <c:v>17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 (HTN)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Data Analysis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Busia Maternity and Nursing Home  |  Patient Records Review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Doricas Aparasi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patient records reviewed for this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diagnosis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Subcounties represented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691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1874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age (yrs)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applied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14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standardized inconsistent entries ("MALE ", "FE MALE") into MALE / FEMALE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SUBCOUNTY: merged near-duplicate labels ("T. South" vs "T.South")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 missing records excluded from age-based breakdowns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SUBCOUNTY: 116 missing records excluded from geographic breakdowns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37033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3886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deck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425196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diagnosed with Hypertension (HTN), including combined HTN/DM and HTN/PUD cases.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the Hypertension Burden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 is the second most common diagnosis in the facility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an HTN-related diagnosis (19.0% of all patients)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ED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069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/ 45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HTN cases vs. cases with a comorbidity (HTN/DM, HTN/PUD)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80560" y="16916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480560" y="1691640"/>
            <a:ext cx="0" cy="0"/>
          </a:xfrm>
          <a:prstGeom prst="round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Is the Dominant Risk Driver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 prevalence climbs sharply from age 40 onward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4592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783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58.6 yrs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514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HTN patients — vs. 39.0 for the overall patient population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3977640"/>
            <a:ext cx="3108960" cy="2148840"/>
          </a:xfrm>
          <a:prstGeom prst="roundRect">
            <a:avLst>
              <a:gd name="adj" fmla="val 4255"/>
            </a:avLst>
          </a:prstGeom>
          <a:solidFill>
            <a:srgbClr val="E457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4114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4846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60+ presents with an HTN diagnosis (50.0% and 54.4% by decade)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 Distribution of HTN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show a higher HTN rate even after adjusting for population share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HTN caseload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488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350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 rate within each sex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035040" y="214884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035040" y="5074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of female patients carry an HTN diagnosis, vs. 16.4% of male patients — a real gap once population share is accounted for.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Comorbidity: HTN and Diabetes Overlap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4 HTN patients also carries a second cardiometabolic or GI diagnosis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E457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23.7%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651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HTN patients (45 of 190) have a documented comorbidity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393192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5528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4805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HTN/DM pairing (17.9% of all HTN cases) compounds cardiovascular risk and typically needs coordinated diet, medication, and renal monitoring.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Distribution of HTN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in Matayos reflects overall catchment volume, not a localized spike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78240" y="1645920"/>
            <a:ext cx="2743200" cy="4480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HTN cases (105/190) come from Matayos subcounty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006840" y="3657600"/>
            <a:ext cx="2286000" cy="0"/>
          </a:xfrm>
          <a:prstGeom prst="line">
            <a:avLst/>
          </a:prstGeom>
          <a:noFill/>
          <a:ln w="12700">
            <a:solidFill>
              <a:srgbClr val="3E5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0" y="38404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Matayos is also 61% of the overall patient population (614/1,001) — so the concentration is proportionate, not a local outbreak signal.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3345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190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screening for 40+ patients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rises from ~9% (30s) to over 50% by age 60 — age-based BP screening at intake would catch the highest-risk group.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3345A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73736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190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integrated HTN/DM care pathway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774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of HTN patients also manage diabetes; coordinated protocols reduce complications and duplicate visits.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3345A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251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chronic-disease follow-up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834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 in 5 patients overall affected by HTN, routine BP checks and medication adherence support have the widest reach.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0690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3345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34340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3251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female HTN rate gap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9834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vs. 16.4% for men warrants a closer look at risk factors and access patterns among female patients.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2026-09-17T08:28:55Z</dcterms:created>
  <dcterms:modified xsi:type="dcterms:W3CDTF">2026-09-17T08:28:55Z</dcterms:modified>
</cp:coreProperties>
</file>